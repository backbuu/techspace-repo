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Nutanix Hybrid Cloud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A3E0"/>
                </a:solidFill>
              </a:rPr>
              <a:t>NHCF Training — Administrator 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EE"/>
                </a:solidFill>
              </a:rPr>
              <a:t>Nutanix Certified Associate (NCA)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263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nutanix.com/training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Course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79" y="1325880"/>
            <a:ext cx="411480" cy="411480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A33"/>
                </a:solidFill>
              </a:rPr>
              <a:t>Explore Your Cluster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Prism Central &amp; Prism Element
Hardware components of a Nutanix cluster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23444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1325880"/>
            <a:ext cx="411480" cy="411480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325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A33"/>
                </a:solidFill>
              </a:rPr>
              <a:t>Prepare to Create VMs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Storage components &amp; AOS concepts
Cluster networking &amp; Image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23444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92440" y="1325880"/>
            <a:ext cx="411480" cy="411480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1325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A33"/>
                </a:solidFill>
              </a:rPr>
              <a:t>Create &amp; Manage VMs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Create VMs, update, clone, export
Snapshots &amp; recovery 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1479" y="3749039"/>
            <a:ext cx="411480" cy="411480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49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A33"/>
                </a:solidFill>
              </a:rPr>
              <a:t>Data Protection &amp; 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25196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Protection domains &amp; remote sites
Disaster recovery with Prism Central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65760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51960" y="3749039"/>
            <a:ext cx="411480" cy="411480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749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A33"/>
                </a:solidFill>
              </a:rPr>
              <a:t>Monitor Your 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25196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Performance monitoring
Cluster health checks &amp; alerts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65760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3749039"/>
            <a:ext cx="411480" cy="411480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3749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A33"/>
                </a:solidFill>
              </a:rPr>
              <a:t>Licensing &amp; Upgrades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25196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License Manager overview
Life Cycle Manager (LCM) upgrades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 Modules · Self-paced or 2-Day ILT · NCA Exam Prep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1 — From 3-Tier to HCI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3E0"/>
                </a:solidFill>
              </a:rPr>
              <a:t>Understanding Hyperconverged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120640" cy="4114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075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❌  Traditional 3-Tier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Separate storage, storage network, servers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Creates silos — multiple teams needed for changes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Predict capacity 3–5 years in advance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Vendor lock-in and high licensing costs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Complex, slow to deploy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No self-healing — manual intervention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577840" cy="41148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075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Hyperconverged Infrastructure (HCI)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Compute + storage + networking in one platform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Scale one node at a time — no silo approvals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Self-healing: data auto-redistributed on add/fail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Single management console (Prism)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Subscription licensing — OpEx friendly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Hybrid cloud ready: on-prem → AWS/Azure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200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4B8B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Module 1  ·  Lesson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Benefits of HCI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3E0"/>
                </a:solidFill>
              </a:rPr>
              <a:t>Why enterprises move from legacy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6400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  Agile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Fast install with full-stack automation
Linear, predictable scale — add one node at a time
Run any workload on a unified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3657600" cy="6400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🔬  Sustained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Automate manual processes — free your team for innovation
Simplified hybrid cloud without compromising on-prem or public
Fewer interruptions for maintenance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657600" cy="6400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325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💰  Optimized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1168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Scale dynamically with business needs — no over-provisioning
Cloud economics (subscription licensing) in private cloud
Bring pay-as-you-grow model on-premises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Module 1  ·  Lesson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Nutanix Cloud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3E0"/>
                </a:solidFill>
              </a:rPr>
              <a:t>5 solution packages — one unified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1945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194560" cy="91440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Nutanix Cloud
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31720"/>
            <a:ext cx="1965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AOS Storage · AHV Virtualization
Nutanix Kubernetes Platform
Flow Network Security · DR · NC2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280160"/>
            <a:ext cx="21945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280160"/>
            <a:ext cx="2194560" cy="914400"/>
          </a:xfrm>
          <a:prstGeom prst="rect">
            <a:avLst/>
          </a:prstGeom>
          <a:solidFill>
            <a:srgbClr val="1A6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Nutanix Cloud
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331720"/>
            <a:ext cx="1965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Intelligent Operations · Self-Service
Cost Governance · Security Central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280160"/>
            <a:ext cx="21945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280160"/>
            <a:ext cx="2194560" cy="914400"/>
          </a:xfrm>
          <a:prstGeom prst="rect">
            <a:avLst/>
          </a:prstGeom>
          <a:solidFill>
            <a:srgbClr val="00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Nutanix Unified
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331720"/>
            <a:ext cx="1965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Files · Volumes · Objects
Data Lens · Mine Backup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280160"/>
            <a:ext cx="21945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1280160"/>
            <a:ext cx="2194560" cy="914400"/>
          </a:xfrm>
          <a:prstGeom prst="rect">
            <a:avLst/>
          </a:prstGeom>
          <a:solidFill>
            <a:srgbClr val="006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Nutanix Database
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331720"/>
            <a:ext cx="1965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PostgreSQL · MySQL · SQL Server
Oracle — automated DB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1280160"/>
            <a:ext cx="21945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1280160"/>
            <a:ext cx="2194560" cy="914400"/>
          </a:xfrm>
          <a:prstGeom prst="rect">
            <a:avLst/>
          </a:prstGeom>
          <a:solidFill>
            <a:srgbClr val="005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19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End User
Computing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2331720"/>
            <a:ext cx="1965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Virtual apps &amp; desktops
DaaS on NCI, public or hybrid 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4B8B"/>
                </a:solidFill>
              </a:rPr>
              <a:t>Foundation: AOS + AHV + Prism (included in every NCI tier)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Module 1  ·  Lesson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Prism Element vs Prism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3E0"/>
                </a:solidFill>
              </a:rPr>
              <a:t>Two management interfaces — know when to use 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03520" cy="50292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Prism Element (PE)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Built into every Nutanix cluster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Manages ONE cluster only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Direct cluster admin (VMs, storage, network)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Good starting point for Nutanix beginners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Access: https://&lt;CVM-IP&gt;:9440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Configure: storage containers, alerts, NCC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28016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280160"/>
            <a:ext cx="5303520" cy="50292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Prism Central (PC)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2024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Single pane for MULTIPLE clusters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Cross-cluster visibility and management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Enables advanced products: Calm, Karbon, Files…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Richer feature set than Prism Element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Recommended for production environments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▸  Required for: NCM Self-Service, Flow, NDB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3200400"/>
            <a:ext cx="822960" cy="64008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321868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Module 1  ·  Lesson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Prism Element — Home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3E0"/>
                </a:solidFill>
              </a:rPr>
              <a:t>What you see when you log in for the first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566160" cy="4114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441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Main Menu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Cluster name, health icon, gear (settings),
question mark (help), alert shortcuts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3566160" cy="4114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441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Cluster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830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Hypervisor + version · Prism Central link
Storage used/free · VM count by state
Node &amp; block count, block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566160" cy="4114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3441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Performance Widgets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7830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Cluster CPU, memory, IOPS charts
Hover → add custom chart to Analysis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3566160" cy="41148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301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Health Widget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690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Green / Yellow / Red per entity
(hosts, VMs, disks, storage)
Click → Health dashboard for 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56616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566160"/>
            <a:ext cx="3566160" cy="41148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6301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Resiliency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0690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How many failures the cluster can withstand
Based on configured failure domain (RF2/RF3)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56616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566160"/>
            <a:ext cx="3566160" cy="41148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36301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Alerts &amp; 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0690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Critical · Warning · Informational alerts
Recent events count + timestamp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Module 1  ·  Lesson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Logging In to Prism Element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3E0"/>
                </a:solidFill>
              </a:rPr>
              <a:t>First-time login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645919"/>
            <a:ext cx="384048" cy="384048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A33"/>
                </a:solidFill>
              </a:rPr>
              <a:t>Open browser → navigate to cluster virtual IP or CVM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http://&lt;CVM-IP-or-Cluster-VIP&gt;  →  auto-redirects to port 9440 (HTTPS)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0" y="1645919"/>
            <a:ext cx="384048" cy="384048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A33"/>
                </a:solidFill>
              </a:rPr>
              <a:t>Accept SSL certificate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874519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Self-signed cert on first install — acknowledge and proceed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0"/>
            <a:ext cx="384048" cy="384048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71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A33"/>
                </a:solidFill>
              </a:rPr>
              <a:t>Enter username &amp; password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290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First-time admin must change the default password immediately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88036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3200400"/>
            <a:ext cx="384048" cy="384048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71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A33"/>
                </a:solidFill>
              </a:rPr>
              <a:t>Accept the EULA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4290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Read, fill required info, click Accept — only shown on first login or after upgrade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3484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4754879"/>
            <a:ext cx="384048" cy="384048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262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A33"/>
                </a:solidFill>
              </a:rPr>
              <a:t>Enable Pulse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83479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Allows Nutanix Support to monitor cluster health. Click Continue. Recommended: leave 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43484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4754879"/>
            <a:ext cx="384048" cy="384048"/>
          </a:xfrm>
          <a:prstGeom prst="ellipse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5262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A33"/>
                </a:solidFill>
              </a:rPr>
              <a:t>Enable Enhanced Cluster Health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983479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Provides more detail to Nutanix Support. Click Yes (recommended) unless security policy restricts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Module 1  ·  Lesson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Cluster Management — Prism Element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3E0"/>
                </a:solidFill>
              </a:rPr>
              <a:t>What you can administer from a single cluster console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669280" cy="45720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🖥  VM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349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Create · Update · Delete · Clone
Power on/off · Live migration
Snapshot · Console access · Nutanix Guest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69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669280" cy="45720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9844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💾  Storage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349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Create storage containers &amp; volume groups
Monitor storage usage across cluster
Set capacity threshold warnings
Reserve capacity for node rebuild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669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5669280" cy="457200"/>
          </a:xfrm>
          <a:prstGeom prst="rect">
            <a:avLst/>
          </a:prstGeom>
          <a:solidFill>
            <a:srgbClr val="00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721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🌐  Network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5349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Track and record networking statistics
AHV Network Visualizer — graphical map of VM/host network
Identify and troubleshoot network issues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669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66928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21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❤  Cluster Health &amp;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5349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Cluster Details window (UUID, IP, FQDN)
Health dashboard per entity
Alert policies &amp; notification config
Data resiliency status (RF2/RF3)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Module 1  ·  Lesson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3E0"/>
                </a:solidFill>
              </a:rPr>
              <a:t>Coming up in NHCF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822960" cy="50292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79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Module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6887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Hardware &amp;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963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Nodes, blocks, AOS, RF1/RF2/RF3, containers, snapshots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63239"/>
            <a:ext cx="822960" cy="50292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08959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Module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0895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136391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AHV bridges, bonds, managed/unmanaged networks, VLANs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822960" cy="50292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Module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49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Image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764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Image Service — upload, import, manage via Prism Central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822960" cy="50292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Module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VM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41655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Create, clone, snapshot, recovery points, affinity policies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83479"/>
            <a:ext cx="822960" cy="50292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29199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Module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02919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Backup &amp; DR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056631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Protection domains, remote sites, Leap, Metro 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23560"/>
            <a:ext cx="822960" cy="502920"/>
          </a:xfrm>
          <a:prstGeom prst="rect">
            <a:avLst/>
          </a:prstGeom>
          <a:solidFill>
            <a:srgbClr val="56B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6692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Module 7–8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669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Monitoring &amp; LCM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6967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NCC health checks, log bundles, LCM upgrades, licensing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91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NCA exam voucher included with ILT enrollment  ·  university.nutanix.com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